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56D"/>
                </a:solidFill>
                <a:latin typeface="Aptos Display"/>
              </a:defRPr>
            </a:pPr>
            <a:r>
              <a:t>Newton’s Laws of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7A6B1"/>
                </a:solidFill>
              </a:defRPr>
            </a:pPr>
            <a:r>
              <a:t>LUMEN sample lesson · original demonstration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First law: inertia and constant velocity</a:t>
            </a:r>
          </a:p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Second law: net force determines acceleration</a:t>
            </a:r>
          </a:p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Third law: equal and opposite forces on different 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56D"/>
                </a:solidFill>
                <a:latin typeface="Aptos Display"/>
              </a:defRPr>
            </a:pPr>
            <a:r>
              <a:t>Second Law: F = m ×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7A6B1"/>
                </a:solidFill>
              </a:defRPr>
            </a:pPr>
            <a:r>
              <a:t>Use the net force, not an individual force.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Net force = mass × acceleration</a:t>
            </a:r>
          </a:p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6 N acting on a 2 kg cart gives 3 m/s²</a:t>
            </a:r>
          </a:p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Double the mass at the same net force → half the acceleration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56D"/>
                </a:solidFill>
                <a:latin typeface="Aptos Display"/>
              </a:defRPr>
            </a:pPr>
            <a:r>
              <a:t>Misconceptions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7A6B1"/>
                </a:solidFill>
              </a:defRPr>
            </a:pPr>
            <a:r>
              <a:t>Explain each answer using evidence from the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Motion does not require a net force</a:t>
            </a:r>
          </a:p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Action–reaction forces act on different objects</a:t>
            </a:r>
          </a:p>
          <a:p>
            <a:pPr>
              <a:spcAft>
                <a:spcPts val="1800"/>
              </a:spcAft>
              <a:defRPr sz="2200">
                <a:solidFill>
                  <a:srgbClr val="E6ECEF"/>
                </a:solidFill>
                <a:latin typeface="Aptos"/>
              </a:defRPr>
            </a:pPr>
            <a:r>
              <a:t>•  Mass is not the same as weight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8B56D"/>
                </a:solidFill>
                <a:latin typeface="Aptos Display"/>
              </a:defRPr>
            </a:pPr>
            <a:r>
              <a:t>Force diagram: a cart on a level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468880"/>
            <a:ext cx="1828800" cy="1097280"/>
          </a:xfrm>
          <a:prstGeom prst="rect">
            <a:avLst/>
          </a:prstGeom>
          <a:solidFill>
            <a:srgbClr val="232E37"/>
          </a:solidFill>
          <a:ln>
            <a:solidFill>
              <a:srgbClr val="D8B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EDF1F3"/>
                </a:solidFill>
              </a:defRPr>
            </a:pPr>
            <a:r>
              <a:t>2 kg cart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2743200"/>
            <a:ext cx="2286000" cy="457200"/>
          </a:xfrm>
          <a:prstGeom prst="rightArrow">
            <a:avLst/>
          </a:prstGeom>
          <a:solidFill>
            <a:srgbClr val="D8B56D"/>
          </a:solidFill>
          <a:ln>
            <a:solidFill>
              <a:srgbClr val="D8B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148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DF1F3"/>
                </a:solidFill>
              </a:defRPr>
            </a:pPr>
            <a:r>
              <a:t>Net force: 6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0233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D8BD"/>
                </a:solidFill>
              </a:defRPr>
            </a:pPr>
            <a:r>
              <a:t>Calculated acceleration: 3 m/s²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